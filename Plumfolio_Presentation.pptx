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A855F7"/>
                </a:solidFill>
                <a:latin typeface="Calibri"/>
              </a:defRPr>
            </a:pPr>
            <a:r>
              <a:t>PLUMFOLIO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A Smart Personal Finance Tracker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66160"/>
            <a:ext cx="10362895" cy="12700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Calibri"/>
              </a:defRPr>
            </a:pPr>
            <a:r>
              <a:t>Final Year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Leon Maunge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Calibri"/>
              </a:defRPr>
            </a:pPr>
            <a:r>
              <a:t>Supervisor: Dr. Shree Om  |  University of Botswana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Presentation Outline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43000"/>
            <a:ext cx="1828800" cy="508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828800"/>
            <a:ext cx="4572000" cy="8686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9202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855F7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9202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Goal &amp; 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2860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What Plumfolio aims to achieve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4572000" cy="8686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855F7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9202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Problem Definition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2860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The gap we are addressing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2926080"/>
            <a:ext cx="4572000" cy="8686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30175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855F7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0175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Solution &amp; 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3832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How Plumfolio solves the problem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926080"/>
            <a:ext cx="4572000" cy="8686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0175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855F7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0175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33832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Tech stack &amp; design decisions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4023360"/>
            <a:ext cx="4572000" cy="8686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4114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855F7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1148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User Interface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4805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Intuitive design walkthrough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023360"/>
            <a:ext cx="4572000" cy="8686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4114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855F7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41148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Core Functionalities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44805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Live demonstration of key features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5120640"/>
            <a:ext cx="4572000" cy="8686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52120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855F7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2120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Validation &amp; Security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55778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Data integrity &amp; protection measures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5120640"/>
            <a:ext cx="4572000" cy="8686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52120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855F7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52120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Conclusion &amp; Future Work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55778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Summary and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Goal &amp; Mission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43000"/>
            <a:ext cx="1828800" cy="508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855F7"/>
                </a:solidFill>
                <a:latin typeface="Calibri"/>
              </a:defRPr>
            </a:pPr>
            <a:r>
              <a:t>"To empower individuals to take control of their personal finances through an intuitive, intelligent, and accessible web application."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560320"/>
            <a:ext cx="9601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BBBBCC"/>
                </a:solidFill>
                <a:latin typeface="Calibri"/>
              </a:defRPr>
            </a:pPr>
            <a:r>
              <a:t>Provide a centralised platform to track income, expenses, budgets, and savings goals</a:t>
            </a:r>
          </a:p>
          <a:p>
            <a:pPr>
              <a:spcAft>
                <a:spcPts val="800"/>
              </a:spcAft>
              <a:defRPr sz="1700">
                <a:solidFill>
                  <a:srgbClr val="BBBBCC"/>
                </a:solidFill>
                <a:latin typeface="Calibri"/>
              </a:defRPr>
            </a:pPr>
            <a:r>
              <a:t>Deliver real-time financial insights and predictive analytics to guide better decisions</a:t>
            </a:r>
          </a:p>
          <a:p>
            <a:pPr>
              <a:spcAft>
                <a:spcPts val="800"/>
              </a:spcAft>
              <a:defRPr sz="1700">
                <a:solidFill>
                  <a:srgbClr val="BBBBCC"/>
                </a:solidFill>
                <a:latin typeface="Calibri"/>
              </a:defRPr>
            </a:pPr>
            <a:r>
              <a:t>Enable receipt scanning and bank statement imports to reduce manual data entry</a:t>
            </a:r>
          </a:p>
          <a:p>
            <a:pPr>
              <a:spcAft>
                <a:spcPts val="800"/>
              </a:spcAft>
              <a:defRPr sz="1700">
                <a:solidFill>
                  <a:srgbClr val="BBBBCC"/>
                </a:solidFill>
                <a:latin typeface="Calibri"/>
              </a:defRPr>
            </a:pPr>
            <a:r>
              <a:t>Support multi-currency display for users across different regions</a:t>
            </a:r>
          </a:p>
          <a:p>
            <a:pPr>
              <a:spcAft>
                <a:spcPts val="800"/>
              </a:spcAft>
              <a:defRPr sz="1700">
                <a:solidFill>
                  <a:srgbClr val="BBBBCC"/>
                </a:solidFill>
                <a:latin typeface="Calibri"/>
              </a:defRPr>
            </a:pPr>
            <a:r>
              <a:t>Ensure data security through Supabase authentication and row-level security</a:t>
            </a:r>
          </a:p>
          <a:p>
            <a:pPr>
              <a:spcAft>
                <a:spcPts val="800"/>
              </a:spcAft>
              <a:defRPr sz="1700">
                <a:solidFill>
                  <a:srgbClr val="BBBBCC"/>
                </a:solidFill>
                <a:latin typeface="Calibri"/>
              </a:defRPr>
            </a:pPr>
            <a:r>
              <a:t>Create an intuitive, responsive interface that works on desktop and mobile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Problem Definition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43000"/>
            <a:ext cx="1828800" cy="508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4937760" cy="19202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4937760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78308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Lack of Financial Awareness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1945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Many individuals lack visibility into where their money goes each month, leading to overspending, missed savings targets, and financial stress.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4937760" cy="19202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493776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8308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Fragmented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Existing solutions are either too complex (enterprise software), too limited (basic spreadsheets), or locked behind expensive subscriptions.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931920"/>
            <a:ext cx="4937760" cy="19202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3931920"/>
            <a:ext cx="4937760" cy="508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06908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Manual Data Entry Burden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4805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Manually recording every transaction is tedious and error-prone, causing users to abandon financial tracking altogether.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931920"/>
            <a:ext cx="4937760" cy="19202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3931920"/>
            <a:ext cx="493776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06908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No Actionable Insights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4805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Most trackers only show numbers — they do not explain spending patterns, detect anomalies, or forecast future cash flow.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Solution &amp; Key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43000"/>
            <a:ext cx="1828800" cy="508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20116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291840" cy="50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Real-time financial overview with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505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monthly summaries &amp; charts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291840" cy="20116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645920"/>
            <a:ext cx="3291840" cy="508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7830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Transactions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194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Full CRUD + CSV import 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4505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receipt scanning (OCR)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291840" cy="20116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645920"/>
            <a:ext cx="329184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7830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Budgets &amp; Goals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194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Category budgets, formula allocator,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4505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savings goals with progress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114800"/>
            <a:ext cx="3291840" cy="20116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4114800"/>
            <a:ext cx="329184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2519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Analytics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663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Trend analysis with interactive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9194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Chart.js visualisations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4114800"/>
            <a:ext cx="3291840" cy="20116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89120" y="4114800"/>
            <a:ext cx="3291840" cy="508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0" y="42519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AI Insights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4663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Rule-based engine: spending patterns,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49194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anomalies, forecasts, tips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4114800"/>
            <a:ext cx="3291840" cy="20116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46720" y="4114800"/>
            <a:ext cx="329184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42519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Reports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4663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Period comparisons, PDF export,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49194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year-over-year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System Architecture &amp; Tech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43000"/>
            <a:ext cx="1828800" cy="508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5029200" cy="10058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63500" cy="10058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7190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855F7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01168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React 18.3 + React Router v6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221992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Chart.js + Lucide Icons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432304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Responsive CSS (mobile-first)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834640"/>
            <a:ext cx="5029200" cy="10058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2834640"/>
            <a:ext cx="63500" cy="10058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29077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C55E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20040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Supabase (PostgreSQL)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410712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REST API + Realtime subscriptions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621024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Edge Functions (receipt scanning)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023360"/>
            <a:ext cx="5029200" cy="10058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4023360"/>
            <a:ext cx="63500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40965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Calibri"/>
              </a:defRPr>
            </a:pPr>
            <a:r>
              <a:t>Authentication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38912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Supabase Auth (JWT)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599432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Email verification + password recovery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809744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Row-Level Security (RLS)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5212080"/>
            <a:ext cx="5029200" cy="10058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" y="5212080"/>
            <a:ext cx="63500" cy="10058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52852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Calibri"/>
              </a:defRPr>
            </a:pPr>
            <a:r>
              <a:t>Deployment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557784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GitHub Pages (SPA)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5788152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PWA manifest for installability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5998464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CDN-served static assets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Architecture Flow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0" y="2194560"/>
            <a:ext cx="4114800" cy="6400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0" y="2240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855F7"/>
                </a:solidFill>
                <a:latin typeface="Calibri"/>
              </a:defRPr>
            </a:pPr>
            <a:r>
              <a:t>User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2240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Browser / Mobile</a:t>
            </a:r>
          </a:p>
        </p:txBody>
      </p:sp>
      <p:sp>
        <p:nvSpPr>
          <p:cNvPr id="32" name="Down Arrow 31"/>
          <p:cNvSpPr/>
          <p:nvPr/>
        </p:nvSpPr>
        <p:spPr>
          <a:xfrm>
            <a:off x="8686800" y="2834640"/>
            <a:ext cx="320040" cy="201168"/>
          </a:xfrm>
          <a:prstGeom prst="downArrow">
            <a:avLst/>
          </a:prstGeom>
          <a:solidFill>
            <a:srgbClr val="55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858000" y="3063239"/>
            <a:ext cx="4114800" cy="6400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0" y="310895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React SPA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0" y="310895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Components + Context API</a:t>
            </a:r>
          </a:p>
        </p:txBody>
      </p:sp>
      <p:sp>
        <p:nvSpPr>
          <p:cNvPr id="36" name="Down Arrow 35"/>
          <p:cNvSpPr/>
          <p:nvPr/>
        </p:nvSpPr>
        <p:spPr>
          <a:xfrm>
            <a:off x="8686800" y="3703319"/>
            <a:ext cx="320040" cy="201168"/>
          </a:xfrm>
          <a:prstGeom prst="downArrow">
            <a:avLst/>
          </a:prstGeom>
          <a:solidFill>
            <a:srgbClr val="55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858000" y="3931920"/>
            <a:ext cx="4114800" cy="6400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32320" y="3977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Calibri"/>
              </a:defRPr>
            </a:pPr>
            <a:r>
              <a:t>Supabase Client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0" y="3977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Auth + REST + Realtime</a:t>
            </a:r>
          </a:p>
        </p:txBody>
      </p:sp>
      <p:sp>
        <p:nvSpPr>
          <p:cNvPr id="40" name="Down Arrow 39"/>
          <p:cNvSpPr/>
          <p:nvPr/>
        </p:nvSpPr>
        <p:spPr>
          <a:xfrm>
            <a:off x="8686800" y="4572000"/>
            <a:ext cx="320040" cy="201168"/>
          </a:xfrm>
          <a:prstGeom prst="downArrow">
            <a:avLst/>
          </a:prstGeom>
          <a:solidFill>
            <a:srgbClr val="55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858000" y="4800600"/>
            <a:ext cx="4114800" cy="6400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32320" y="4846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PostgreSQL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61120" y="4846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Tables + RLS Policies</a:t>
            </a:r>
          </a:p>
        </p:txBody>
      </p:sp>
      <p:sp>
        <p:nvSpPr>
          <p:cNvPr id="44" name="Down Arrow 43"/>
          <p:cNvSpPr/>
          <p:nvPr/>
        </p:nvSpPr>
        <p:spPr>
          <a:xfrm>
            <a:off x="8686800" y="5440680"/>
            <a:ext cx="320040" cy="201168"/>
          </a:xfrm>
          <a:prstGeom prst="downArrow">
            <a:avLst/>
          </a:prstGeom>
          <a:solidFill>
            <a:srgbClr val="55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858000" y="5669279"/>
            <a:ext cx="4114800" cy="6400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32320" y="571499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Edge Functions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61120" y="571499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Receipt OCR Processing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User Interface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43000"/>
            <a:ext cx="1828800" cy="508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20116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291840" cy="508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Dark Theme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Reduces eye strain for daily financial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505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review; modern aesthetic with plum accents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291840" cy="20116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645920"/>
            <a:ext cx="3291840" cy="508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7830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Responsive Layout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194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Desktop sidebar + mobile bottom navigation;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4505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works on all screen sizes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291840" cy="20116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645920"/>
            <a:ext cx="3291840" cy="508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7830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Intuitive Navigation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194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6 main sections accessible from sidebar;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4505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clear visual hierarchy per page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114800"/>
            <a:ext cx="3291840" cy="20116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4114800"/>
            <a:ext cx="3291840" cy="508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2519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Real-time Feedback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663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Toast notifications, inline validation,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9194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loading states for every action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4114800"/>
            <a:ext cx="3291840" cy="20116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89120" y="4114800"/>
            <a:ext cx="3291840" cy="508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0" y="42519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Accessibility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4663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High contrast text, semantic HTML,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49194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keyboard-navigable forms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4114800"/>
            <a:ext cx="3291840" cy="20116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46720" y="4114800"/>
            <a:ext cx="3291840" cy="508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42519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Progressive Web App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4663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Installable on mobile devices;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49194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native app-like experience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Core Functionalities (Demo)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43000"/>
            <a:ext cx="1828800" cy="508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Calibri"/>
              </a:defRPr>
            </a:pPr>
            <a:r>
              <a:t>The following features will be demonstrated live: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920240"/>
            <a:ext cx="10362895" cy="475488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97510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55F7"/>
                </a:solidFill>
                <a:latin typeface="Calibri"/>
              </a:defRPr>
            </a:pPr>
            <a:r>
              <a:t>1. Authentication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975104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Sign up with validation → email verification → sign in → session management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487168"/>
            <a:ext cx="10362895" cy="475488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5420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55F7"/>
                </a:solidFill>
                <a:latin typeface="Calibri"/>
              </a:defRPr>
            </a:pPr>
            <a:r>
              <a:t>2. Transaction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542032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Add income/expense → edit → delete → filter by month/year → search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054096"/>
            <a:ext cx="10362895" cy="475488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108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55F7"/>
                </a:solidFill>
                <a:latin typeface="Calibri"/>
              </a:defRPr>
            </a:pPr>
            <a:r>
              <a:t>3. Receipt Scanning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1089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Upload receipt image → OCR processing → auto-populated form fields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621024"/>
            <a:ext cx="10362895" cy="475488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367588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55F7"/>
                </a:solidFill>
                <a:latin typeface="Calibri"/>
              </a:defRPr>
            </a:pPr>
            <a:r>
              <a:t>4. Bank Statement Import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3675888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Upload CSV → auto-categorisation → duplicate detection → bulk import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187952"/>
            <a:ext cx="10362895" cy="475488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424281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55F7"/>
                </a:solidFill>
                <a:latin typeface="Calibri"/>
              </a:defRPr>
            </a:pPr>
            <a:r>
              <a:t>5. Budget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4242816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Create budgets per category → formula allocator → over-budget warnings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754880"/>
            <a:ext cx="10362895" cy="475488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480974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55F7"/>
                </a:solidFill>
                <a:latin typeface="Calibri"/>
              </a:defRPr>
            </a:pPr>
            <a:r>
              <a:t>6. Savings Goals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4809744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Set targets → track progress → contribute funds → goal completion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5321808"/>
            <a:ext cx="10362895" cy="475488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53766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55F7"/>
                </a:solidFill>
                <a:latin typeface="Calibri"/>
              </a:defRPr>
            </a:pPr>
            <a:r>
              <a:t>7. Analytics &amp; Reports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5376672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Interactive charts → period comparisons → PDF export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5888736"/>
            <a:ext cx="10362895" cy="475488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5943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55F7"/>
                </a:solidFill>
                <a:latin typeface="Calibri"/>
              </a:defRPr>
            </a:pPr>
            <a:r>
              <a:t>8. AI Insights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1920" y="59436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Spending pattern analysis → anomaly detection → forecasting → savings tips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Validation &amp; Security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43000"/>
            <a:ext cx="1828800" cy="508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855F7"/>
                </a:solidFill>
                <a:latin typeface="Calibri"/>
              </a:defRPr>
            </a:pPr>
            <a:r>
              <a:t>Input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9659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•  All amounts: positive, max 10M, 2 decimal places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2199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•  Descriptions: 2–100 chars, XSS pattern rejection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7802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•  Passwords: min 8 chars, uppercase + lowercase + number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3405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•  Emails: format check, length limit (254), trimmed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008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•  Dates: no future dates, max 5 years back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461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•  Budgets: min P10, month range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8503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855F7"/>
                </a:solidFill>
                <a:latin typeface="Calibri"/>
              </a:defRPr>
            </a:pPr>
            <a:r>
              <a:t>Duplicate Prevention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09651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•  Transactions: fuzzy matching on amount + description + 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35254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•  Budgets: one per category per month enforced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60857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•  Sign-up: existing email detection (including Supabase silent duplicates)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554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855F7"/>
                </a:solidFill>
                <a:latin typeface="Calibri"/>
              </a:defRPr>
            </a:pPr>
            <a:r>
              <a:t>Authentication &amp; Authorisation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9659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•  Supabase Auth with JWT session tokens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22199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•  Email verification before first sign-in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47802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•  Password recovery via secure reset links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73405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•  Row-Level Security (RLS) on all database tables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99008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•  Protected routes redirect unauthenticated users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4290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855F7"/>
                </a:solidFill>
                <a:latin typeface="Calibri"/>
              </a:defRPr>
            </a:pPr>
            <a:r>
              <a:t>Data Protection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8404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•  HTTPS encryption in transit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09651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•  Public anon key + server-side RLS enforcement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35254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•  Account deletion: purges all user 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60857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•  No sensitive data stored in localStorage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86460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•  Control character &amp; script injection blocking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Functional Requirements Coverage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43000"/>
            <a:ext cx="1828800" cy="508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7772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2763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855F7"/>
                </a:solidFill>
                <a:latin typeface="Calibri"/>
              </a:defRPr>
            </a:pPr>
            <a:r>
              <a:t>FR-1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276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User Authentication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92024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Sign up, sign in, email verification, password recovery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162763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2C55E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120640" cy="7772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2763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855F7"/>
                </a:solidFill>
                <a:latin typeface="Calibri"/>
              </a:defRPr>
            </a:pPr>
            <a:r>
              <a:t>FR-2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6276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Transaction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192024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CRUD operations, filtering, search, categorisation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162763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2C55E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514600"/>
            <a:ext cx="5120640" cy="7772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58775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855F7"/>
                </a:solidFill>
                <a:latin typeface="Calibri"/>
              </a:defRPr>
            </a:pPr>
            <a:r>
              <a:t>FR-3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25877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Budget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28803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Create, edit, delete budgets; formula-based allocation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5877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2C55E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514600"/>
            <a:ext cx="5120640" cy="7772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258775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855F7"/>
                </a:solidFill>
                <a:latin typeface="Calibri"/>
              </a:defRPr>
            </a:pPr>
            <a:r>
              <a:t>FR-4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25877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Savings Goals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28803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Set targets, track progress, fund contributions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25877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2C55E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474720"/>
            <a:ext cx="5120640" cy="7772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354787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855F7"/>
                </a:solidFill>
                <a:latin typeface="Calibri"/>
              </a:defRPr>
            </a:pPr>
            <a:r>
              <a:t>FR-5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35478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Financial Insights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38404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Rule-based analysis: patterns, anomalies, tips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0" y="35478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2C55E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474720"/>
            <a:ext cx="5120640" cy="7772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354787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855F7"/>
                </a:solidFill>
                <a:latin typeface="Calibri"/>
              </a:defRPr>
            </a:pPr>
            <a:r>
              <a:t>FR-6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5478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Predictive Analytics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38404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Weighted moving averages, trend detection, forecasts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35478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2C55E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4434840"/>
            <a:ext cx="5120640" cy="7772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450799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855F7"/>
                </a:solidFill>
                <a:latin typeface="Calibri"/>
              </a:defRPr>
            </a:pPr>
            <a:r>
              <a:t>FR-7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63040" y="45079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Receipt Scanning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63040" y="48006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OCR with Tesseract.js + Edge Function fallback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0640" y="450799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2C55E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4434840"/>
            <a:ext cx="5120640" cy="7772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55080" y="450799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855F7"/>
                </a:solidFill>
                <a:latin typeface="Calibri"/>
              </a:defRPr>
            </a:pPr>
            <a:r>
              <a:t>FR-8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9440" y="45079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Data Import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9440" y="48006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CSV parsing, auto-categorisation, duplicate detection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07040" y="450799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2C55E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" y="5394960"/>
            <a:ext cx="5120640" cy="7772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8680" y="546811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855F7"/>
                </a:solidFill>
                <a:latin typeface="Calibri"/>
              </a:defRPr>
            </a:pPr>
            <a:r>
              <a:t>FR-9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63040" y="54681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Reports &amp; Export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63040" y="576072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Period reports, comparisons, PDF export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20640" y="546811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2C55E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17920" y="5394960"/>
            <a:ext cx="5120640" cy="7772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55080" y="546811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855F7"/>
                </a:solidFill>
                <a:latin typeface="Calibri"/>
              </a:defRPr>
            </a:pPr>
            <a:r>
              <a:t>FR-10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49440" y="54681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Multi-Currency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49440" y="576072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Live FX rates, user-selectable display currency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607040" y="546811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2C55E"/>
                </a:solidFill>
                <a:latin typeface="Calibri"/>
              </a:defRPr>
            </a:pPr>
            <a:r>
              <a:t>✓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Challenges &amp; Lessons Learned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43000"/>
            <a:ext cx="1828800" cy="508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029200" cy="20116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50292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Supabase RLS &amp; Auth Edge Cases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Handling silent duplicate emails, session persistence across tabs, and designing RLS policies that balance security with usability.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554480"/>
            <a:ext cx="5029200" cy="20116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0" y="1554480"/>
            <a:ext cx="50292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9164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Receipt OCR 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Raw OCR text is noisy — built two parsers (heuristic + strict) and image preprocessing (adaptive threshold, contrast enhancement) to improve accuracy.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5029200" cy="20116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931920"/>
            <a:ext cx="50292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06908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Budget Logic Complexity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48056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Balancing user expectations (income vs. balance-based budgeting) with correct financial calculations required iterative UX testing and logic refinement.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3931920"/>
            <a:ext cx="5029200" cy="20116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3931920"/>
            <a:ext cx="50292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06908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Client-Side Performance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48056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Running insights, predictions, and cross-reference engines in the browser required careful optimisation and 30-second polling with Realtime fallback.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Future Work &amp; Enhancements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43000"/>
            <a:ext cx="1828800" cy="508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291840" cy="20116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329184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Direct Bank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Connect to banking APIs for automatic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591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transaction syncing (e.g., Plaid, Stitch)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54480"/>
            <a:ext cx="3291840" cy="20116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554480"/>
            <a:ext cx="329184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6916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Machine Learning Insights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103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Replace rule-based engine with 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3591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models for personalised predictions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54480"/>
            <a:ext cx="3291840" cy="20116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554480"/>
            <a:ext cx="329184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6916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Mobile Native 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103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React Native version with push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3591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notifications and biometric auth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023360"/>
            <a:ext cx="3291840" cy="20116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4023360"/>
            <a:ext cx="329184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1605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Collaborative Budgets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572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Shared household budgets with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8280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multi-user access and permissions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4023360"/>
            <a:ext cx="3291840" cy="20116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89120" y="4023360"/>
            <a:ext cx="329184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0" y="41605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Recurring Transactions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4572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Auto-detect and auto-create recurring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48280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income and expense entries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4023360"/>
            <a:ext cx="3291840" cy="20116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46720" y="4023360"/>
            <a:ext cx="329184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41605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Investment Tracking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4572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Portfolio tracking, stock prices,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48280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net worth dashboard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43000"/>
            <a:ext cx="1828800" cy="508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554480"/>
            <a:ext cx="10362895" cy="6400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664208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✓  Plumfolio successfully addresses the problem of personal finance management by providing a comprehensive, intuitive, and intelligent web application.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31720"/>
            <a:ext cx="10362895" cy="6400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441448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✓  All 10 functional requirements have been implemented and are fully operational.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108960"/>
            <a:ext cx="10362895" cy="6400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218688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✓  The system combines modern web technologies (React 18, Supabase, Chart.js) with rule-based AI engines for insights and predictions.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886200"/>
            <a:ext cx="10362895" cy="6400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995928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✓  Receipt scanning and bank statement imports significantly reduce the manual data entry burden.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663440"/>
            <a:ext cx="10362895" cy="6400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773168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✓  Comprehensive validation and security measures ensure data integrity and user protection.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440680"/>
            <a:ext cx="10362895" cy="6400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5550408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✓  The responsive design and PWA capabilities make Plumfolio accessible across all devices.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A855F7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840480"/>
            <a:ext cx="10362895" cy="12700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206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CC"/>
                </a:solidFill>
                <a:latin typeface="Calibri"/>
              </a:defRPr>
            </a:pPr>
            <a:r>
              <a:t>Leon Maunge  |  University of Botswana  |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754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855F7"/>
                </a:solidFill>
                <a:latin typeface="Calibri"/>
              </a:defRPr>
            </a:pPr>
            <a:r>
              <a:t>leonfinalyearproject.github.io/Plumfolio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